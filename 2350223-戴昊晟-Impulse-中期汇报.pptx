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62" r:id="rId5"/>
    <p:sldId id="258" r:id="rId6"/>
    <p:sldId id="259" r:id="rId7"/>
    <p:sldId id="260" r:id="rId8"/>
    <p:sldId id="261" r:id="rId9"/>
    <p:sldId id="266" r:id="rId10"/>
    <p:sldId id="269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889D"/>
    <a:srgbClr val="0F7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5" y="7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2303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074DA-1D46-A4E9-1CD2-2DCCD885D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2E45A-6313-C8D0-B239-A6E0956F7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02A6B-64A6-4892-61C7-BF32E2EE3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B41B3-74D6-E26C-63E9-A70D8513D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06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7C574-DDC3-5CBC-5967-28196C5A6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965A3-9DF3-DFA6-4083-D4BAB4A33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CBCA2B-166B-26FB-93F5-39ED5F124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DFD4A-B7DE-F03F-725E-A0092171FF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76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CA8A04">
              <a:alpha val="12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315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6583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Impulse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85800" y="1463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驱动的智能论文阅读助手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85800" y="2103120"/>
            <a:ext cx="1097280" cy="457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377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Less, Understand More.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85800" y="3200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</a:t>
            </a:r>
            <a:r>
              <a:rPr lang="zh-CN" alt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</a:t>
            </a:r>
            <a:r>
              <a:rPr lang="en-US" sz="14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是一个</a:t>
            </a: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PDF </a:t>
            </a:r>
            <a:r>
              <a:rPr lang="en-US" sz="14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</a:t>
            </a:r>
            <a:r>
              <a:rPr lang="en-US" sz="14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一个能听、能想、能动手的</a:t>
            </a: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AI </a:t>
            </a:r>
            <a:r>
              <a:rPr lang="en-US" sz="14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</a:t>
            </a: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Agent</a:t>
            </a:r>
          </a:p>
        </p:txBody>
      </p:sp>
      <p:sp>
        <p:nvSpPr>
          <p:cNvPr id="10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4663440"/>
            <a:ext cx="5486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期末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Impulse |  2026 </a:t>
            </a:r>
            <a:endParaRPr lang="en-US" sz="11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F3987F-704E-B567-2208-40A7653DC4B8}"/>
              </a:ext>
            </a:extLst>
          </p:cNvPr>
          <p:cNvSpPr txBox="1"/>
          <p:nvPr/>
        </p:nvSpPr>
        <p:spPr>
          <a:xfrm>
            <a:off x="685800" y="3691156"/>
            <a:ext cx="5522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B889D"/>
                </a:solidFill>
              </a:rPr>
              <a:t>2350223 </a:t>
            </a:r>
            <a:r>
              <a:rPr lang="zh-CN" altLang="en-US" dirty="0">
                <a:solidFill>
                  <a:srgbClr val="7B889D"/>
                </a:solidFill>
              </a:rPr>
              <a:t>戴昊晟</a:t>
            </a:r>
            <a:endParaRPr lang="en-US" dirty="0">
              <a:solidFill>
                <a:srgbClr val="7B889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项目背景与动机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研究者面对海量论文</a:t>
            </a: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zh-CN" alt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不需要每篇做精读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研究者的困境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8424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965960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需要做综述，</a:t>
            </a:r>
            <a:r>
              <a:rPr lang="en-US" sz="1200" dirty="0" err="1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</a:t>
            </a: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5-10 篇 20 页的英文论文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48716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4688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在海量文字中寻找关键贡献和方法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99008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971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读完无法高效管理阅读笔记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49300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474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学术英语门槛，翻译打断阅读节奏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995928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25880" y="39776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多篇论文对比依赖手工整理，耗时费力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754880" y="1234440"/>
            <a:ext cx="3840480" cy="3474720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54880" y="123444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3"/>
          <p:cNvSpPr/>
          <p:nvPr/>
        </p:nvSpPr>
        <p:spPr>
          <a:xfrm>
            <a:off x="498348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Impulse 的答案</a:t>
            </a:r>
            <a:endParaRPr lang="en-US" sz="18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1984248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440680" y="1965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自动理解阅读意图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2487168"/>
            <a:ext cx="292608" cy="2926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440680" y="2468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一键摘要、翻译、高亮关键内容</a:t>
            </a:r>
            <a:endParaRPr lang="en-US" sz="12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2990088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440680" y="2971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结构化笔记永久保存，随时检索</a:t>
            </a:r>
            <a:endParaRPr lang="en-US" sz="12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0" y="3493008"/>
            <a:ext cx="292608" cy="29260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440680" y="34747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EAB3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阅读目标</a:t>
            </a:r>
            <a:r>
              <a:rPr lang="zh-CN" altLang="en-US" sz="1200" dirty="0">
                <a:solidFill>
                  <a:srgbClr val="EAB3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可选择</a:t>
            </a:r>
            <a:endParaRPr lang="en-US" sz="12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995928"/>
            <a:ext cx="292608" cy="29260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440680" y="3977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B3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多论文智能对比，六维度分析</a:t>
            </a:r>
            <a:endParaRPr lang="en-US" sz="1200" dirty="0"/>
          </a:p>
        </p:txBody>
      </p:sp>
      <p:sp>
        <p:nvSpPr>
          <p:cNvPr id="31" name="Shape 19"/>
          <p:cNvSpPr/>
          <p:nvPr/>
        </p:nvSpPr>
        <p:spPr>
          <a:xfrm>
            <a:off x="548640" y="4572000"/>
            <a:ext cx="80467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Text 20"/>
          <p:cNvSpPr/>
          <p:nvPr/>
        </p:nvSpPr>
        <p:spPr>
          <a:xfrm>
            <a:off x="146221" y="4754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</a:t>
            </a:r>
            <a:r>
              <a:rPr lang="en-US" sz="12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研究者需要的</a:t>
            </a: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有时不只是</a:t>
            </a:r>
            <a:r>
              <a:rPr lang="en-US" sz="12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一个工具，而是一个能理解研究需求、自主执行操作的</a:t>
            </a: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b="1" i="1" dirty="0">
                <a:solidFill>
                  <a:srgbClr val="CA8A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需求分析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从用户画像到功能需求 — 谁在用、遇到什么问题、需要什么解决方案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34440"/>
            <a:ext cx="26060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42646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研究生 / 博士生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1892808"/>
            <a:ext cx="23317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9842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每周精读 5-10 篇英文论文，需要快速判断相关性与提取核心方法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2743200"/>
            <a:ext cx="722376" cy="274320"/>
          </a:xfrm>
          <a:prstGeom prst="rect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743200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快速摘要与翻译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417320" y="2743200"/>
            <a:ext cx="722376" cy="274320"/>
          </a:xfrm>
          <a:prstGeom prst="rect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417320" y="2743200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关键贡献自动提取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194560" y="2743200"/>
            <a:ext cx="722376" cy="274320"/>
          </a:xfrm>
          <a:prstGeom prst="rect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194560" y="2743200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论文间横向对比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37560" y="1234440"/>
            <a:ext cx="26060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0" y="1371600"/>
            <a:ext cx="411480" cy="411480"/>
          </a:xfrm>
          <a:prstGeom prst="ellipse">
            <a:avLst/>
          </a:prstGeom>
          <a:solidFill>
            <a:srgbClr val="CA8A04">
              <a:alpha val="15000"/>
            </a:srgbClr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1426464"/>
            <a:ext cx="301752" cy="3017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995928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科研工作者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474720" y="1892808"/>
            <a:ext cx="23317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19"/>
          <p:cNvSpPr/>
          <p:nvPr/>
        </p:nvSpPr>
        <p:spPr>
          <a:xfrm>
            <a:off x="3474720" y="19842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需要深度理解论文方法、评估创新性、准备引用与文献综述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474720" y="2532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474720" y="2743200"/>
            <a:ext cx="722376" cy="274320"/>
          </a:xfrm>
          <a:prstGeom prst="rect">
            <a:avLst/>
          </a:prstGeom>
          <a:solidFill>
            <a:srgbClr val="CA8A04">
              <a:alpha val="8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3474720" y="2743200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8A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阅读目标个性化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251960" y="2743200"/>
            <a:ext cx="722376" cy="274320"/>
          </a:xfrm>
          <a:prstGeom prst="rect">
            <a:avLst/>
          </a:prstGeom>
          <a:solidFill>
            <a:srgbClr val="CA8A04">
              <a:alpha val="8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4251960" y="2743200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8A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结构化笔记管理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029200" y="2743200"/>
            <a:ext cx="722376" cy="274320"/>
          </a:xfrm>
          <a:prstGeom prst="rect">
            <a:avLst/>
          </a:prstGeom>
          <a:solidFill>
            <a:srgbClr val="CA8A04">
              <a:alpha val="8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0" y="2743200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8A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多轮深度问答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172200" y="1234440"/>
            <a:ext cx="26060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309360" y="1371600"/>
            <a:ext cx="411480" cy="41148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426464"/>
            <a:ext cx="301752" cy="30175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830568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 / 技术 Leader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6309360" y="1892808"/>
            <a:ext cx="23317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6" name="Text 31"/>
          <p:cNvSpPr/>
          <p:nvPr/>
        </p:nvSpPr>
        <p:spPr>
          <a:xfrm>
            <a:off x="6309360" y="19842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关注实现细节与落地可行性，快速扫描大量文献做技术选型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6309360" y="2532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6309360" y="2743200"/>
            <a:ext cx="722376" cy="274320"/>
          </a:xfrm>
          <a:prstGeom prst="rect">
            <a:avLst/>
          </a:prstGeom>
          <a:solidFill>
            <a:srgbClr val="14B8A6">
              <a:alpha val="8000"/>
            </a:srgbClr>
          </a:solidFill>
          <a:ln/>
        </p:spPr>
      </p:sp>
      <p:sp>
        <p:nvSpPr>
          <p:cNvPr id="39" name="Text 34"/>
          <p:cNvSpPr/>
          <p:nvPr/>
        </p:nvSpPr>
        <p:spPr>
          <a:xfrm>
            <a:off x="6309360" y="2743200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实验参数快速定位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7086600" y="2743200"/>
            <a:ext cx="722376" cy="274320"/>
          </a:xfrm>
          <a:prstGeom prst="rect">
            <a:avLst/>
          </a:prstGeom>
          <a:solidFill>
            <a:srgbClr val="14B8A6">
              <a:alpha val="8000"/>
            </a:srgbClr>
          </a:solidFill>
          <a:ln/>
        </p:spPr>
      </p:sp>
      <p:sp>
        <p:nvSpPr>
          <p:cNvPr id="41" name="Text 36"/>
          <p:cNvSpPr/>
          <p:nvPr/>
        </p:nvSpPr>
        <p:spPr>
          <a:xfrm>
            <a:off x="7086600" y="2743200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实现细节自动提取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7863840" y="2743200"/>
            <a:ext cx="722376" cy="274320"/>
          </a:xfrm>
          <a:prstGeom prst="rect">
            <a:avLst/>
          </a:prstGeom>
          <a:solidFill>
            <a:srgbClr val="14B8A6">
              <a:alpha val="8000"/>
            </a:srgbClr>
          </a:solidFill>
          <a:ln/>
        </p:spPr>
      </p:sp>
      <p:sp>
        <p:nvSpPr>
          <p:cNvPr id="43" name="Text 38"/>
          <p:cNvSpPr/>
          <p:nvPr/>
        </p:nvSpPr>
        <p:spPr>
          <a:xfrm>
            <a:off x="7863840" y="2743200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批量论文对比分析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54864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阅读流程对比</a:t>
            </a:r>
            <a:endParaRPr lang="en-US" sz="1400" dirty="0"/>
          </a:p>
        </p:txBody>
      </p:sp>
      <p:sp>
        <p:nvSpPr>
          <p:cNvPr id="45" name="Shape 40"/>
          <p:cNvSpPr/>
          <p:nvPr/>
        </p:nvSpPr>
        <p:spPr>
          <a:xfrm>
            <a:off x="502920" y="3657600"/>
            <a:ext cx="81381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41"/>
          <p:cNvSpPr/>
          <p:nvPr/>
        </p:nvSpPr>
        <p:spPr>
          <a:xfrm>
            <a:off x="685800" y="3657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5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精读论文</a:t>
            </a:r>
            <a:r>
              <a:rPr lang="en-US" sz="105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PDF → 逐页阅读 → 手动标注 → 复制粘贴翻译工具 → 整理笔记到文档 → 手动对比论文 → 费时 2-3 小时/篇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502920" y="4343400"/>
            <a:ext cx="8138160" cy="594360"/>
          </a:xfrm>
          <a:prstGeom prst="rect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48" name="Text 43"/>
          <p:cNvSpPr/>
          <p:nvPr/>
        </p:nvSpPr>
        <p:spPr>
          <a:xfrm>
            <a:off x="685800" y="43434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Impulse  </a:t>
            </a: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PDF → Agent 自动提取全文 → 对话式交互 ("帮我总结方法") → Agent 调用工具链 → 高亮+笔记自动保存 → 多论文一键对比 → 提效 70%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4114800" y="4224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↓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Plasmo + React 18 + TypeScript + </a:t>
            </a:r>
            <a:r>
              <a:rPr lang="en-US" altLang="zh-CN" sz="12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</a:t>
            </a: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Chrome Extension Manifest V3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795528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502920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3716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 · 内联样式 · Markdown + LaTeX 渲染 · 暗色模式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02920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65960"/>
            <a:ext cx="54864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659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9659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 状态变量 · 状态提升 · useRef/useCallback/useMemo · 事件驱动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502920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60320"/>
            <a:ext cx="54864" cy="475488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5603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agentChat() · 14 工具定义 · 5 轮循环 · Reading Goal 注入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502920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154680"/>
            <a:ext cx="54864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546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1546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 · GPT-4o-mini/4o/3.5-turbo · 懒加载单例 · 多 Provider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502920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749040"/>
            <a:ext cx="54864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7490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 Layer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37490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chrome.storage.local · 按 URL 索引 · 全量读写 · 8 类数据结构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502920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343400"/>
            <a:ext cx="54864" cy="475488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434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 Layer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43434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 V3 · Content Scripts · Background SW · allFrames 文本捕获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52160" y="1371600"/>
            <a:ext cx="132588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52160" y="1444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A8A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852160" y="1901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状态变量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60920" y="1371600"/>
            <a:ext cx="132588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60920" y="1444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A8A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360920" y="1901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可调用工具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52160" y="2423160"/>
            <a:ext cx="132588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852160" y="24963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A8A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852160" y="29535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工具调用轮次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60920" y="2423160"/>
            <a:ext cx="132588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60920" y="24963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A8A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360920" y="29535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阅读目标模式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52160" y="3474720"/>
            <a:ext cx="132588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852160" y="354787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A8A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5852160" y="40050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Provider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60920" y="3474720"/>
            <a:ext cx="132588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360920" y="354787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A8A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2s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7360920" y="40050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文本轮询间隔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双模式架构：Agent × Assistant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同一个侧边栏，两种交互范式 — 从"点击操作"到"自然对话"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39776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3977640" cy="5029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Assistant 模式 — 工具型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002536"/>
            <a:ext cx="164592" cy="164592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9202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个独立 Tab：摘要 / 翻译 / 高亮 / 笔记 / 问答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478024"/>
            <a:ext cx="164592" cy="164592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3957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手动选择文本 → 点击按钮 → 等待结果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53512"/>
            <a:ext cx="164592" cy="164592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87121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每个功能独立操作，互不关联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429000"/>
            <a:ext cx="164592" cy="164592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3467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适合单一任务：快速翻译一段话、提取摘要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04488"/>
            <a:ext cx="164592" cy="164592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8221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学习成本低，即开即用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234440"/>
            <a:ext cx="3977640" cy="3383280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234440"/>
            <a:ext cx="3977640" cy="5029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234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模式 — 对话型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83480" y="2002536"/>
            <a:ext cx="164592" cy="164592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19202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自然语言驱动："帮我总结这篇论文的方法"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2478024"/>
            <a:ext cx="164592" cy="164592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23957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自主选择工具：14 个工具按需调用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83480" y="295351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287121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多轮工具链：摘要 → 高亮 → 笔记一气呵成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3429000"/>
            <a:ext cx="164592" cy="164592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33467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阅读目标感知：4 种目标引导分析方向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83480" y="390448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0" y="38221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协作式交互：Agent 会反问澄清需求</a:t>
            </a:r>
            <a:endParaRPr lang="en-US" sz="11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560320"/>
            <a:ext cx="457200" cy="45720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420130" y="4741823"/>
            <a:ext cx="8229600" cy="411480"/>
          </a:xfrm>
          <a:prstGeom prst="rect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548639" y="4765836"/>
            <a:ext cx="79993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模式的核心突破：</a:t>
            </a:r>
            <a:r>
              <a:rPr lang="en-US" sz="115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用户表达意图 → Agent </a:t>
            </a:r>
            <a:r>
              <a:rPr lang="en-US" sz="1150" dirty="0" err="1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制定计划</a:t>
            </a:r>
            <a:r>
              <a:rPr lang="en-US" sz="115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调用工具执行 → 用户确认结果，实现真正的 </a:t>
            </a:r>
            <a:r>
              <a:rPr lang="en-US" sz="1150" b="1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意图驱动交互</a:t>
            </a:r>
            <a:endParaRPr lang="en-US" sz="1150" dirty="0">
              <a:solidFill>
                <a:srgbClr val="0F766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工作循环：从意图到行动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多轮工具调用链 — LLM 思考 → 选择工具 → 执行 → 反馈 → 再思考，最多 5 轮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795528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325880"/>
            <a:ext cx="141732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1417320" cy="45720"/>
          </a:xfrm>
          <a:prstGeom prst="rect">
            <a:avLst/>
          </a:prstGeom>
          <a:solidFill>
            <a:srgbClr val="CA8A0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508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9842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用户意图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2860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"总结方法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并高亮关键词"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011680" y="1783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331720" y="1325880"/>
            <a:ext cx="141732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331720" y="1325880"/>
            <a:ext cx="141732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15087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31720" y="19842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规划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423160" y="22860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理解意图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制定计划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749040" y="1783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069080" y="1325880"/>
            <a:ext cx="141732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069080" y="1325880"/>
            <a:ext cx="1417320" cy="457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15087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69080" y="19842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160520" y="22860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summarize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highlight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0" y="1783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5806440" y="1325880"/>
            <a:ext cx="141732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806440" y="1325880"/>
            <a:ext cx="141732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150876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06440" y="19842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结果整合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897880" y="22860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汇总工具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返回结果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223760" y="1783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7543800" y="1325880"/>
            <a:ext cx="141732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543800" y="1325880"/>
            <a:ext cx="1417320" cy="45720"/>
          </a:xfrm>
          <a:prstGeom prst="rect">
            <a:avLst/>
          </a:prstGeom>
          <a:solidFill>
            <a:srgbClr val="CA8A04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9580" y="150876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543800" y="19842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用户确认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635240" y="22860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 / 继续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 / 追问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94360" y="3108960"/>
            <a:ext cx="7955280" cy="17373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82296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工具调用循环详解（单轮对话最多 5 轮）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22960" y="36118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"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这篇论文的核心贡献是什么？和高亮关键句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LLM → </a:t>
            </a: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tool_call: summarize_selection(text, goal=contribution)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 查看结果 → </a:t>
            </a:r>
            <a:r>
              <a:rPr lang="en-US" sz="105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创新点已提取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LLM → </a:t>
            </a: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tool_call: apply_highlight(["self-attention", "multi-head", ...])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完成 → 返回结构化回答 + 页面已高亮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工具矩阵：14 个可调用工具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根据用户意图自主选择工具 — 涵盖阅读、笔记、对比、交互四大类别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34440"/>
            <a:ext cx="256032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25603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阅读与理解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" y="1828800"/>
            <a:ext cx="2340864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4708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summarize_selection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4088" y="204825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选中文本摘要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" y="2331720"/>
            <a:ext cx="2340864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35000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translate_selection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4088" y="255117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选中文本翻译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" y="2834640"/>
            <a:ext cx="2340864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285292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extract_paper_metadata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4088" y="305409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论文元数据提取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2648" y="3337560"/>
            <a:ext cx="2340864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35584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get_paper_summary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" y="355701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获取历史论文摘要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0" y="1234440"/>
            <a:ext cx="256032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234440"/>
            <a:ext cx="2560320" cy="45720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笔记与标注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01568" y="1828800"/>
            <a:ext cx="2340864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3493008" y="184708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save_note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93008" y="204825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保存注释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01568" y="2331720"/>
            <a:ext cx="2340864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3493008" y="235000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get_notes / search_notes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93008" y="255117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 / 搜索注释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01568" y="2834640"/>
            <a:ext cx="2340864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3493008" y="285292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apply_highlight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93008" y="305409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页面高亮标注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01568" y="3337560"/>
            <a:ext cx="2340864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3493008" y="335584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get_highlights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93008" y="355701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获取高亮列表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80760" y="1234440"/>
            <a:ext cx="256032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1234440"/>
            <a:ext cx="256032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对比与交互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90488" y="1828800"/>
            <a:ext cx="2340864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Text 37"/>
          <p:cNvSpPr/>
          <p:nvPr/>
        </p:nvSpPr>
        <p:spPr>
          <a:xfrm>
            <a:off x="6281928" y="184708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compare_papers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81928" y="204825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多论文六维对比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90488" y="2331720"/>
            <a:ext cx="2340864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6281928" y="235000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save_comparison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81928" y="255117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保存对比结果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90488" y="2834640"/>
            <a:ext cx="2340864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6281928" y="285292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list_candidate_papers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81928" y="305409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浏览历史论文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90488" y="3337560"/>
            <a:ext cx="2340864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6281928" y="335584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ask_user_question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81928" y="355701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向用户提问澄清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5800" y="4160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8A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</a:t>
            </a: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ask_user_question </a:t>
            </a: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Agent 模式的独特工具 — 当 LLM 不确定用户意图时，会主动弹出对话框请求澄清，实现真正的 </a:t>
            </a: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协作式阅读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5800" y="4617720"/>
            <a:ext cx="7772400" cy="365760"/>
          </a:xfrm>
          <a:prstGeom prst="rect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91440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工具调用策略：每轮对话最多 5 轮工具循环，单次最多 14 个工具可供选择，LLM 自主决定调用时机、顺序和参数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阅读目标自适应：千人千面的阅读体验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Agent，四种阅读目标 — System Prompt 注入引导 LLM 行为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384048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64008" cy="1444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2646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13441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理解方法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61872" y="1691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关注焦点：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792224" y="1752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技术方案、框架设计、核心算法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19842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"重点关注论文的技术方法部分，分析其框架设计和算法细节，并与相关工作进行对比。"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663440" y="1234440"/>
            <a:ext cx="384048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234440"/>
            <a:ext cx="64008" cy="14447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Shape 12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426464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76672" y="13441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实现细节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376672" y="1691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关注焦点：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989320" y="1691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参数设置、数据集、实验配置、可复现性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846320" y="19842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"聚焦实验设置和实现细节：参数选择、数据集、训练过程、消融实验。评估可复现性。"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48640" y="2907792"/>
            <a:ext cx="384048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2907792"/>
            <a:ext cx="64008" cy="1444752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23" name="Shape 19"/>
          <p:cNvSpPr/>
          <p:nvPr/>
        </p:nvSpPr>
        <p:spPr>
          <a:xfrm>
            <a:off x="731520" y="3044952"/>
            <a:ext cx="411480" cy="411480"/>
          </a:xfrm>
          <a:prstGeom prst="ellipse">
            <a:avLst/>
          </a:prstGeom>
          <a:solidFill>
            <a:srgbClr val="CA8A04">
              <a:alpha val="15000"/>
            </a:srgbClr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099816"/>
            <a:ext cx="301752" cy="30175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61872" y="3017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评估创新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1261872" y="33649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关注焦点：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874520" y="3364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核心创新、理论突破、局限性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731520" y="3657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"评估论文的创新性：核心贡献是什么？与 SOTA 的本质区别在哪？有哪些局限性？"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4663440" y="2907792"/>
            <a:ext cx="384048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663440" y="2907792"/>
            <a:ext cx="64008" cy="1444752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1" name="Shape 26"/>
          <p:cNvSpPr/>
          <p:nvPr/>
        </p:nvSpPr>
        <p:spPr>
          <a:xfrm>
            <a:off x="4846320" y="3044952"/>
            <a:ext cx="411480" cy="411480"/>
          </a:xfrm>
          <a:prstGeom prst="ellipse">
            <a:avLst/>
          </a:prstGeom>
          <a:solidFill>
            <a:srgbClr val="EAB308">
              <a:alpha val="15000"/>
            </a:srgbClr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3099816"/>
            <a:ext cx="301752" cy="30175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76672" y="3017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准备引用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5376672" y="33649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关注焦点：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5989320" y="3364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核心论点、关键结果、领域定位、代表性引用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846320" y="3657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"提取可引用的核心论点和实验结果，定位该工作在领域中的位置，推荐代表性引用句。"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548640" y="4279392"/>
            <a:ext cx="8046720" cy="594360"/>
          </a:xfrm>
          <a:prstGeom prst="rect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38" name="Text 32"/>
          <p:cNvSpPr/>
          <p:nvPr/>
        </p:nvSpPr>
        <p:spPr>
          <a:xfrm>
            <a:off x="777240" y="427939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实现机制：</a:t>
            </a: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阅读目标通过 System Prompt 注入，在每次 LLM 对话开始时引导 Agent 的关注方向。用户选择后零延迟生效，无需额外 API 往返。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0A546-804C-9B9D-1769-EAD45079C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483CCB-F758-5CA9-9BDB-A00CBB1A363A}"/>
              </a:ext>
            </a:extLst>
          </p:cNvPr>
          <p:cNvSpPr/>
          <p:nvPr/>
        </p:nvSpPr>
        <p:spPr>
          <a:xfrm>
            <a:off x="548640" y="160837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dirty="0"/>
              <a:t>项目成果展示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D8B84D-6FFF-5C7B-6073-D80FE89DB75D}"/>
              </a:ext>
            </a:extLst>
          </p:cNvPr>
          <p:cNvSpPr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CE4E1B-7E1F-6931-13F6-CAD4A94D2638}"/>
              </a:ext>
            </a:extLst>
          </p:cNvPr>
          <p:cNvSpPr/>
          <p:nvPr/>
        </p:nvSpPr>
        <p:spPr>
          <a:xfrm>
            <a:off x="548640" y="693674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B881925E-1FEF-F0D6-D999-AB7E99C6B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46" y="648999"/>
            <a:ext cx="7825079" cy="445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13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75AFE-7FCB-B65F-3857-CDC7EE1A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5C68C7-9E3B-7167-AA24-64E7CCE85203}"/>
              </a:ext>
            </a:extLst>
          </p:cNvPr>
          <p:cNvSpPr/>
          <p:nvPr/>
        </p:nvSpPr>
        <p:spPr>
          <a:xfrm>
            <a:off x="548640" y="160837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dirty="0"/>
              <a:t>项目成果展示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0CABDD-B5C1-07EC-C880-9F3C49798D73}"/>
              </a:ext>
            </a:extLst>
          </p:cNvPr>
          <p:cNvSpPr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E0637E6-74EE-A221-F697-2B85EAAE4225}"/>
              </a:ext>
            </a:extLst>
          </p:cNvPr>
          <p:cNvSpPr/>
          <p:nvPr/>
        </p:nvSpPr>
        <p:spPr>
          <a:xfrm>
            <a:off x="548640" y="693674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09AE879-A0DF-5459-7918-847B74E44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56" y="663364"/>
            <a:ext cx="7694840" cy="43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0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当前成果与未来展望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已完成全功能 MVP，下一步从"能用"到"好用"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397764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397764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已完成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01952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8745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双模式架构（Agent + Assistant）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4884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1214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14 工具系统 + 工具调用循环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9572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3682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种阅读目标自适应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42616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26151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 Quick-Start 技能（/contribution 等）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89504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28620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全文自动提取 + 论文元数据解析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6392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05840" y="31089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页面高亮标注（TreeWalker + &lt;mark&gt;）</a:t>
            </a:r>
            <a:endParaRPr lang="en-US" sz="10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83280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005840" y="33558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多论文六维对比（贡献/方法/实验/局限/创新/价值）</a:t>
            </a:r>
            <a:endParaRPr lang="en-US" sz="10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30168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005840" y="36027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+ LaTeX + GFM 表格完整渲染</a:t>
            </a:r>
            <a:endParaRPr lang="en-US" sz="10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77056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005840" y="38496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暗色模式 + 中英文 i18n + 键盘快捷键</a:t>
            </a:r>
            <a:endParaRPr lang="en-US" sz="105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1005840" y="40965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导出（笔记 + 高亮 + 聊天记录）</a:t>
            </a:r>
            <a:endParaRPr lang="en-US" sz="105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70832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1005840" y="43434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Provider 支持（OpenAI / DeepSeek / Qwen）</a:t>
            </a:r>
            <a:endParaRPr lang="en-US" sz="1050" dirty="0"/>
          </a:p>
        </p:txBody>
      </p:sp>
      <p:sp>
        <p:nvSpPr>
          <p:cNvPr id="30" name="Shape 17"/>
          <p:cNvSpPr/>
          <p:nvPr/>
        </p:nvSpPr>
        <p:spPr>
          <a:xfrm>
            <a:off x="4709160" y="1234440"/>
            <a:ext cx="3977640" cy="3520440"/>
          </a:xfrm>
          <a:prstGeom prst="rect">
            <a:avLst/>
          </a:prstGeom>
          <a:solidFill>
            <a:srgbClr val="0F172A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18"/>
          <p:cNvSpPr/>
          <p:nvPr/>
        </p:nvSpPr>
        <p:spPr>
          <a:xfrm>
            <a:off x="4709160" y="1234440"/>
            <a:ext cx="3977640" cy="5029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32" name="Text 19"/>
          <p:cNvSpPr/>
          <p:nvPr/>
        </p:nvSpPr>
        <p:spPr>
          <a:xfrm>
            <a:off x="4892040" y="1234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未来计划</a:t>
            </a:r>
            <a:endParaRPr lang="en-US" sz="1500" dirty="0"/>
          </a:p>
        </p:txBody>
      </p:sp>
      <p:sp>
        <p:nvSpPr>
          <p:cNvPr id="33" name="Shape 20"/>
          <p:cNvSpPr/>
          <p:nvPr/>
        </p:nvSpPr>
        <p:spPr>
          <a:xfrm>
            <a:off x="4983480" y="1929384"/>
            <a:ext cx="164592" cy="164592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34" name="Text 21"/>
          <p:cNvSpPr/>
          <p:nvPr/>
        </p:nvSpPr>
        <p:spPr>
          <a:xfrm>
            <a:off x="5303520" y="18745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知识库与长期记忆</a:t>
            </a:r>
            <a:endParaRPr lang="en-US" sz="1100" dirty="0"/>
          </a:p>
        </p:txBody>
      </p:sp>
      <p:sp>
        <p:nvSpPr>
          <p:cNvPr id="35" name="Text 22"/>
          <p:cNvSpPr/>
          <p:nvPr/>
        </p:nvSpPr>
        <p:spPr>
          <a:xfrm>
            <a:off x="5440680" y="20756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跨论文知识图谱，论文间关系网络</a:t>
            </a:r>
            <a:endParaRPr lang="en-US" sz="900" dirty="0"/>
          </a:p>
        </p:txBody>
      </p:sp>
      <p:sp>
        <p:nvSpPr>
          <p:cNvPr id="36" name="Shape 23"/>
          <p:cNvSpPr/>
          <p:nvPr/>
        </p:nvSpPr>
        <p:spPr>
          <a:xfrm>
            <a:off x="4983480" y="2313432"/>
            <a:ext cx="164592" cy="164592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37" name="Text 24"/>
          <p:cNvSpPr/>
          <p:nvPr/>
        </p:nvSpPr>
        <p:spPr>
          <a:xfrm>
            <a:off x="5303520" y="22585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协作架构</a:t>
            </a:r>
            <a:endParaRPr lang="en-US" sz="1100" dirty="0"/>
          </a:p>
        </p:txBody>
      </p:sp>
      <p:sp>
        <p:nvSpPr>
          <p:cNvPr id="38" name="Text 25"/>
          <p:cNvSpPr/>
          <p:nvPr/>
        </p:nvSpPr>
        <p:spPr>
          <a:xfrm>
            <a:off x="5440680" y="245973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Generator-Verifier 模式提升输出质量</a:t>
            </a:r>
            <a:endParaRPr lang="en-US" sz="900" dirty="0"/>
          </a:p>
        </p:txBody>
      </p:sp>
      <p:sp>
        <p:nvSpPr>
          <p:cNvPr id="39" name="Shape 26"/>
          <p:cNvSpPr/>
          <p:nvPr/>
        </p:nvSpPr>
        <p:spPr>
          <a:xfrm>
            <a:off x="4983480" y="2697480"/>
            <a:ext cx="164592" cy="164592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40" name="Text 27"/>
          <p:cNvSpPr/>
          <p:nvPr/>
        </p:nvSpPr>
        <p:spPr>
          <a:xfrm>
            <a:off x="5303520" y="26426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论文推荐系统</a:t>
            </a:r>
            <a:endParaRPr lang="en-US" sz="1100" dirty="0"/>
          </a:p>
        </p:txBody>
      </p:sp>
      <p:sp>
        <p:nvSpPr>
          <p:cNvPr id="41" name="Text 28"/>
          <p:cNvSpPr/>
          <p:nvPr/>
        </p:nvSpPr>
        <p:spPr>
          <a:xfrm>
            <a:off x="5440680" y="284378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基于阅读历史的个性化论文推荐</a:t>
            </a:r>
            <a:endParaRPr lang="en-US" sz="900" dirty="0"/>
          </a:p>
        </p:txBody>
      </p:sp>
      <p:sp>
        <p:nvSpPr>
          <p:cNvPr id="42" name="Shape 29"/>
          <p:cNvSpPr/>
          <p:nvPr/>
        </p:nvSpPr>
        <p:spPr>
          <a:xfrm>
            <a:off x="4983480" y="3081528"/>
            <a:ext cx="164592" cy="164592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43" name="Text 30"/>
          <p:cNvSpPr/>
          <p:nvPr/>
        </p:nvSpPr>
        <p:spPr>
          <a:xfrm>
            <a:off x="5303520" y="30266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写作辅助功能</a:t>
            </a:r>
            <a:endParaRPr lang="en-US" sz="1100" dirty="0"/>
          </a:p>
        </p:txBody>
      </p:sp>
      <p:sp>
        <p:nvSpPr>
          <p:cNvPr id="44" name="Text 31"/>
          <p:cNvSpPr/>
          <p:nvPr/>
        </p:nvSpPr>
        <p:spPr>
          <a:xfrm>
            <a:off x="5440680" y="32278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从阅读到写作，Related Work 自动生成</a:t>
            </a:r>
            <a:endParaRPr lang="en-US" sz="900" dirty="0"/>
          </a:p>
        </p:txBody>
      </p:sp>
      <p:sp>
        <p:nvSpPr>
          <p:cNvPr id="45" name="Shape 32"/>
          <p:cNvSpPr/>
          <p:nvPr/>
        </p:nvSpPr>
        <p:spPr>
          <a:xfrm>
            <a:off x="4983480" y="3465576"/>
            <a:ext cx="164592" cy="164592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46" name="Text 33"/>
          <p:cNvSpPr/>
          <p:nvPr/>
        </p:nvSpPr>
        <p:spPr>
          <a:xfrm>
            <a:off x="5303520" y="34107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协作阅读</a:t>
            </a:r>
            <a:endParaRPr lang="en-US" sz="1100" dirty="0"/>
          </a:p>
        </p:txBody>
      </p:sp>
      <p:sp>
        <p:nvSpPr>
          <p:cNvPr id="47" name="Text 34"/>
          <p:cNvSpPr/>
          <p:nvPr/>
        </p:nvSpPr>
        <p:spPr>
          <a:xfrm>
            <a:off x="5440680" y="361188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团队共享标注、讨论线程</a:t>
            </a:r>
            <a:endParaRPr lang="en-US" sz="900" dirty="0"/>
          </a:p>
        </p:txBody>
      </p:sp>
      <p:sp>
        <p:nvSpPr>
          <p:cNvPr id="48" name="Shape 35"/>
          <p:cNvSpPr/>
          <p:nvPr/>
        </p:nvSpPr>
        <p:spPr>
          <a:xfrm>
            <a:off x="4983480" y="3849624"/>
            <a:ext cx="164592" cy="164592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49" name="Text 36"/>
          <p:cNvSpPr/>
          <p:nvPr/>
        </p:nvSpPr>
        <p:spPr>
          <a:xfrm>
            <a:off x="5303520" y="37947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本地模型支持</a:t>
            </a:r>
            <a:endParaRPr lang="en-US" sz="1100" dirty="0"/>
          </a:p>
        </p:txBody>
      </p:sp>
      <p:sp>
        <p:nvSpPr>
          <p:cNvPr id="50" name="Text 37"/>
          <p:cNvSpPr/>
          <p:nvPr/>
        </p:nvSpPr>
        <p:spPr>
          <a:xfrm>
            <a:off x="5440680" y="39959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集成，隐私优先的离线阅读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CA8A0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840480" y="2148840"/>
            <a:ext cx="1463040" cy="457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423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Impulse — Read Less, Understand More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Agent-First · Goal-Aware · Built for Researchers
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A8A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663440"/>
            <a:ext cx="7772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 |  </a:t>
            </a: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驱动的智能论文阅读助手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中期汇报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877</Words>
  <Application>Microsoft Office PowerPoint</Application>
  <PresentationFormat>全屏显示(16:9)</PresentationFormat>
  <Paragraphs>209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Microsoft YaHei</vt:lpstr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Impulse 中期汇报 — Agent 模式下的智能论文阅读体验</dc:title>
  <dc:subject>PptxGenJS Presentation</dc:subject>
  <dc:creator>Impulse Team</dc:creator>
  <cp:lastModifiedBy>昊晟 戴</cp:lastModifiedBy>
  <cp:revision>7</cp:revision>
  <dcterms:created xsi:type="dcterms:W3CDTF">2026-05-21T09:40:01Z</dcterms:created>
  <dcterms:modified xsi:type="dcterms:W3CDTF">2026-06-24T15:30:56Z</dcterms:modified>
</cp:coreProperties>
</file>